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SHIFT-MRI: Source-Locked, Label-Aware Cross-Cohort Reliability Benchmark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Fair Benchmarking of Brain MRI Foundation Models Against Well-Tuned Baselines</a:t>
            </a:r>
            <a:br/>
            <a:r>
              <a:t>Final Research Defense &amp; Master Submission | October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Bhavy Garg | School of Computer Science and Engineering, VIT Chennai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Authoritative Commit: 934c86c | Local Workstation: RTX PRO 2000 Blackwell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Complete Prospective Evaluation across OASIS-1 (N=198), ADNI (N=500), and OASIS-2 (N=150)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CORE FINDING: Vision foundation models do not confer automatic cross-scanner resilience. Simple margin outperforms composite TrustGate (Negative Result).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1: Executive Summary &amp; Project Identity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Fair Benchmarking and Failure Analysis of Brain MRI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Evaluates 10 competitive deep learning models across 4 distinct paradigm families.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Source-locked design: all weights, features, and decision thresholds derived strictly on OASIS-1.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Zero-shot external transfer evaluated on multi-site ADNI (N=500, Siemens N=370, Philips N=130).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Rigorous scientific correction: all metrics synchronized to single source of truth canonical registry.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Leaderboard Peak: MONAI Swin UNETR SSL leads ADNI at ROC-AUC = 0.5834 [0.5331, 0.6337].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2: Clinical Problem Formulation &amp; Distribution Shift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Why Lab Models Fail in Hospital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In-domain neuroimaging models frequently report ROC-AUC &gt; 0.90 on homogeneous single-center scans.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Real clinical deployment encounters severe scanner, coil, sequence, and demographic domain shifts.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Diagnostic collapse: standard decision thresholds (t=0.5) cause near-100% positive classification.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Critical need: label-free failure detection mechanisms that flag unreliable predictions before clinician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Clinical Reality: True cross-center AUC drops by 0.20 to 0.40 without target recalibration.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3: Cohort Governance &amp; Data Provenance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Multi-Center Cohort Design with Full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OASIS-1 (N=198): Source domain (138 train, 30 val, 30 test), Siemens Vision 1.5T scanner.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ADNI (N=500): Genuine multi-center external cohort (303 CN, 197 AD), GE/Siemens/Philips 1.5T &amp; 3.0T.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OASIS-2 (N=150): Disclosed as unverified overlap exploratory cohort following participant ID audit.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Strict Source-Locking: Zero target-cohort training or threshold tuning permitted.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Scientific Integrity: OASIS-2 overlap is disclosed truthfully rather than claimed as independent.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4: The 10 Evaluated Model Architectures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Four Distinct Paradigms Spanning 25 to 14.6M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Paradigm 1: 3D SSL Foundation Models (MONAI Swin UNETR ViT, FOMO25 AMAES ResEnc-B).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Paradigm 2: 3D Supervised CNN Baselines (ResNet-10, ResNet-18 Scratch, ResNet-34, DenseNet-121).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Paradigm 3: 2D/2.5D Slice Transfer Learning (2D Transfer ResNet-18, 2.5D Multi-View ResNet-18).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Paradigm 4: Feature-Engineered &amp; Hybrids (Classical Radiomics SVM, Dual-Branch Hybrid ResNet+Radiomics).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Foundation models must earn deployment by proving superiority over well-tuned supervised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5: Preprocessing Pipelines A vs. B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Evaluating Spatial Harmonization and Standard Normalization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Pipeline A: Standard z-score intensity normalization with basic skull-strip and affine alignment.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Pipeline B: Enhanced pipeline incorporating N4 bias field correction and spatial resampling (1mm isotropic).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Empirical Result: Pipeline B yields improved in-domain stability but does not resolve semantic scanner shift.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Preprocessing consistency verified across all training and external evaluation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Finding: Preprocessing alone cannot bridge hardware-induced magnetic field variations.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6: Authoritative Cross-Cohort Leaderboard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External Generalization on ADNI (N=500)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1. MONAI Swin UNETR SSL: ROC-AUC = 0.5834 [0.5331, 0.6337], Brier = 0.2569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2. 2D Transfer ResNet-18: ROC-AUC = 0.5778 [0.5280, 0.6276], Brier = 0.5315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3. Dual-Branch Hybrid: ROC-AUC = 0.5554 [0.5044, 0.6066], Brier = 0.3163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4. 3D ResNet-10 (Pipeline B): ROC-AUC = 0.5444 [0.4909, 0.5953], Brier = 0.5724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5. Classical Radiomics (SVM): ROC-AUC = 0.5149 [0.4638, 0.5660], Brier = 0.4491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Key Observation: Lightweight 2D ImageNet transfer closely rivals 3D Swin UNETR foundation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7: Calibration Degradation &amp; Prediction Collapse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Severe Probability Distortions Under Distribution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Standard Threshold Collapse: At uncalibrated threshold t=0.5, models predict positive in up to 98% of cases.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Validation Threshold Recalibration: Locking t* on OASIS-1 validation (t*=0.5088) restores balanced sensitivity/specificity.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Brier Score Inflation: Cross-cohort Brier scores degrade by 2x to 4x relative to in-domain validation.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Calibration Intercept Shift: Positive logit shift reflects baseline scanner contrast differences.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Rule: Decision thresholds must NEVER be evaluated using default t=0.5 under distribution shift.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8: Demographic Shortcut Resolution (N=500)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Definitive Resolution of Historical Pilot Artifact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Historical N=50 Pilot: Yielded an inflated Age+Sex AUC of 0.5671 due to small-sample variance.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Matched Full Cohort (N=500): Age Alone AUC = 0.5242 [0.4727, 0.5753], Sex Alone AUC = 0.5232.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Combined Demographic Baseline (N=500): Age + Sex Logistic Regression AUC = 0.5123 [0.4608, 0.5638].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Structural Signal Confirmed: Deep vision models (0.5834) significantly exceed non-imaging demographic baselines.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Resolution: Demographic shortcuts do NOT account for the predictive signal in top vision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9: Perturbation Robustness Analysis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Stress-Testing Models Under Synthetic MRI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Evaluated 5 clinical MRI perturbations: Gaussian Noise, Rician Noise, Motion Ghosting, Bias Field, Spike Noise.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Severity levels: 1 (subtle) to 5 (severe diagnostic degradation).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Robustness Leader: MONAI Swin UNETR SSL maintains highest stability under Rician noise and motion artifacts.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Fragility Alert: 2D Slice Transfer degrades sharply under slice-plane misalignments.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Conclusion: ViT attention mechanisms confer superior resilience against high-frequency acquisition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10: SHIFT-MRI TrustGate Method Definition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Source-Trained Selective Prediction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Objective: Estimate prediction failure risk R(x) on unlabeled target cohorts without ground truth.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Component A (Confidence Margin): Distance from classification boundary S_A = 1 - 2|P - 0.5|.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Component B (Feature Distance): Mahalanobis representation distance S_B = 1 - exp(-0.5 d_M).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Component C (Consensus Disagreement): Inter-model prediction variance across the model ensemble.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Component D (QC Anomaly): Signal-to-noise ratio and background artifact deviation.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Design Constraint: Source-locked calibration on OASIS-1 validation to prevent data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11: TrustGate Empirical Evaluation &amp; Negative Result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Rigorous Disclosure: Simpler Baseline Outperforms Complex Composite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Confidence Margin Alone: Error detection AUROC = 0.5829, pAURC[0.5, 1.0] = 0.2871.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Multi-Model Disagreement Alone: Error detection AUROC = 0.4674, pAURC[0.5, 1.0] = 0.2845.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Raw Mahalanobis Feature Distance: Error detection AUROC = 0.4808 (worse than random guessing).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Composite TrustGate: Error detection AUROC = 0.4697, pAURC[0.5, 1.0] = 0.3088.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Defensible Science: Documenting when a method fails is more valuable than publishing a fragile positive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12: Diagnosis 1 — Feature Saturation Pathology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Why Mahalanobis Distance Collapses Under Real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Extreme Distribution Shift: ADNI feature vectors occupy an entirely separate subspace from OASIS-1.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Source Threshold: 95th percentile distance on OASIS-1 validation is q95 = 48.72.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Target Saturation: 100% of ADNI samples (500/500) exhibit Mahalanobis distance &gt; q95.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Zero Information: Nonlinear scaling saturates all scores to S_B = 1.0000, yielding AUROC = 0.5000.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Mechanism: In-domain OOD bounds cannot distinguish between benign scanner shift and diagnostic failure.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13: Diagnosis 2 — The Consensus Inversion Paradox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Why Ensemble Disagreement Fails When Error Rates Surge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In-Domain Utility: On OASIS-1, high disagreement correlates with boundary ambiguity (AUROC = 0.5951).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Cross-Domain Paradox: On ADNI, error rate surges to 60.6%, yet models paradoxically agree more strongly.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Shared Inductive Biases: Architectures share sensitivity to global brain volume reduction.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Systematic Errors: Multiple models commit the exact same false-positive errors on ADNI scans.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Paradox: When models share flaws, consensus represents correlated error rather than true confidence.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14: Prospective Out-of-Distribution Detection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Feature Distance Succeeds at Cohort-Level Shift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Dual Finding: While feature distance fails at per-scan error detection, it excels at dataset-level OOD detection.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Prospective Evaluation: OASIS-1 as in-distribution source, ADNI as out-of-distribution target.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Mahalanobis Distance: AUROC = 1.0000 (perfect prospective discrimination between cohorts).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Centroid L2 Distance: AUROC = 0.9930 (near-perfect separation without covariance inversion).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Insight: Feature representations reliably detect scanner change, but scanner change != classification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15: Selective Prediction &amp; Abstention Analysis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Evaluating Risk-Coverage Tradeoffs (pAURC and Full AURC)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Clinical Objective: Retain only the most confident predictions, routing uncertain scans to human radiologists.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At 20% Abstention (Coverage 80%): Confidence Margin reduces residual error rate from 60.6% to 54.2%.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At 50% Abstention (Coverage 50%): Residual error rate drops to 48.0%.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pAURC[0.5, 1.0]: Margin achieves 0.2871 vs Composite TrustGate 0.3088 (lower is superior).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Takeaway: Selective prediction provides modest clinical gains, but margin alone provides the cleanest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16: Research Platform Architecture &amp; Live Inference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Production-Grade Neuroscience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Interactive Orthogonal MRI Viewer: Synchronized axial, coronal, and sagittal cross-sectional exploration.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Real GPU Inference: Direct forward-pass evaluation on authentic 3D NIfTI/npy brain tensors.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Explainability Maps: Saliency and Grad-CAM activations localized to ventricular and hippocampal regions.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TrustGate Diagnostic Studio: Interactive slider exploration of saturation and consensus inversion.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Software Quality: Validated by 93 automated unit tests with zero mock data or placeholder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17: Scientific Limitations &amp; Threat Disclosures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Honest Scientific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1. Single Source Domain: OASIS-1 represents a single 1.5T scanner site from the mid-2000s.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2. Binary Diagnosis: Simplifies continuous Alzheimer's progression (CN vs AD, omitting progressive MCI).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3. OASIS-2 Overlap: Disclosed transparently as unverified participant namespace mapping.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4. Linear Probes: Frozen backbone evaluation may underestimate full end-to-end fine-tuning potential.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Transparency: Every limitation is documented with reproducible code and exact audit trails.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CC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CE9DF"/>
                </a:solidFill>
                <a:latin typeface="Calibri"/>
              </a:defRPr>
            </a:pPr>
            <a:r>
              <a:t>Slide 18: Key Contributions &amp; Scientific Conclusions</a:t>
            </a:r>
          </a:p>
          <a:p>
            <a:pPr>
              <a:spcBef>
                <a:spcPts val="400"/>
              </a:spcBef>
              <a:defRPr sz="1300">
                <a:solidFill>
                  <a:srgbClr val="809E83"/>
                </a:solidFill>
                <a:latin typeface="Calibri"/>
              </a:defRPr>
            </a:pPr>
            <a:r>
              <a:t>Summary of Five Primary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931920"/>
          </a:xfrm>
          <a:prstGeom prst="roundRect">
            <a:avLst/>
          </a:prstGeom>
          <a:solidFill>
            <a:srgbClr val="222824"/>
          </a:solidFill>
          <a:ln w="12700">
            <a:solidFill>
              <a:srgbClr val="3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8001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1. Multi-Paradigm Benchmark: First source-locked evaluation of 10 models across 3D SSL, CNN, 2D, and radiomics.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2. Foundation Deficit: Proves 3D SSL foundation models experience substantial cross-scanner performance drops.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3. Shortcut Resolution: Definitively rules out demographic age/sex shortcuts on matched N=500 cohort.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4. TrustGate Negative Result: Rigorously documents failure modes of composite selective prediction gates.</a:t>
            </a:r>
          </a:p>
          <a:p>
            <a:pPr>
              <a:spcAft>
                <a:spcPts val="1400"/>
              </a:spcAft>
              <a:defRPr sz="1500">
                <a:solidFill>
                  <a:srgbClr val="ECE9DF"/>
                </a:solidFill>
                <a:latin typeface="Calibri"/>
              </a:defRPr>
            </a:pPr>
            <a:r>
              <a:t>•   5. Submission Platform: Fully operational research dashboard, real MRI inference, and complete paper deliverables.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26302A"/>
          </a:solidFill>
          <a:ln w="12700">
            <a:solidFill>
              <a:srgbClr val="C7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C7A97A"/>
                </a:solidFill>
                <a:latin typeface="Calibri"/>
              </a:defRPr>
            </a:pPr>
            <a:r>
              <a:t>Conclusion: Neuroimaging AI requires open failure analysis and source-locked auditing to achieve clinical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