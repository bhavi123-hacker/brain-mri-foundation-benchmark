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SHIFT-MRI: Cross-Cohort Generalization &amp; Reliability</a:t>
            </a:r>
          </a:p>
          <a:p>
            <a:pPr>
              <a:spcBef>
                <a:spcPts val="1400"/>
              </a:spcBef>
              <a:defRPr sz="2200">
                <a:solidFill>
                  <a:srgbClr val="374151"/>
                </a:solidFill>
              </a:defRPr>
            </a:pPr>
            <a:r>
              <a:t>Benchmarking BrainIAC, Swin UNETR, FOMO25 and Supervised Networks on 3D Brain MRI</a:t>
            </a:r>
          </a:p>
          <a:p>
            <a:pPr>
              <a:spcBef>
                <a:spcPts val="2800"/>
              </a:spcBef>
              <a:defRPr sz="1600">
                <a:solidFill>
                  <a:srgbClr val="6B7280"/>
                </a:solidFill>
              </a:defRPr>
            </a:pPr>
            <a:r>
              <a:t>Bhavy Garg (24BAI1088) | Department of AI &amp; Data Science | Vellore Institute of Technology, Chennai</a:t>
            </a:r>
            <a:br/>
            <a:r>
              <a:t>October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Research Motivation &amp; Questions</a:t>
            </a:r>
          </a:p>
          <a:p>
            <a:pPr>
              <a:spcBef>
                <a:spcPts val="1000"/>
              </a:spcBef>
              <a:defRPr sz="1800"/>
            </a:pPr>
            <a:r>
              <a:t>Clinical Translation Bottleneck: High single-cohort AUC (&gt;0.85) collapses under cross-cohort evaluation.</a:t>
            </a:r>
          </a:p>
          <a:p>
            <a:pPr>
              <a:spcBef>
                <a:spcPts val="1000"/>
              </a:spcBef>
              <a:defRPr sz="1800"/>
            </a:pPr>
            <a:r>
              <a:t>Foundation Models: BrainIAC, MONAI Swin UNETR, and FOMO25 promise robust representation learning.</a:t>
            </a:r>
          </a:p>
          <a:p>
            <a:pPr>
              <a:spcBef>
                <a:spcPts val="1000"/>
              </a:spcBef>
              <a:defRPr sz="1800"/>
            </a:pPr>
            <a:r>
              <a:t>Key Research Questions:</a:t>
            </a:r>
          </a:p>
          <a:p>
            <a:pPr>
              <a:spcBef>
                <a:spcPts val="1000"/>
              </a:spcBef>
              <a:defRPr sz="1800"/>
            </a:pPr>
            <a:r>
              <a:t>  1. Do foundation models outperform well-tuned supervised 3D ResNets on external cohorts?</a:t>
            </a:r>
          </a:p>
          <a:p>
            <a:pPr>
              <a:spcBef>
                <a:spcPts val="1000"/>
              </a:spcBef>
              <a:defRPr sz="1800"/>
            </a:pPr>
            <a:r>
              <a:t>  2. Does fine-tuning improve transfer, or does it overfit source acquisition parameters?</a:t>
            </a:r>
          </a:p>
          <a:p>
            <a:pPr>
              <a:spcBef>
                <a:spcPts val="1000"/>
              </a:spcBef>
              <a:defRPr sz="1800"/>
            </a:pPr>
            <a:r>
              <a:t>  3. Does BrainIAC's self-supervised pretraining outperform a randomly initialized ViT control?</a:t>
            </a:r>
          </a:p>
          <a:p>
            <a:pPr>
              <a:spcBef>
                <a:spcPts val="1000"/>
              </a:spcBef>
              <a:defRPr sz="1800"/>
            </a:pPr>
            <a:r>
              <a:t>  4. Can source-calibrated TrustGate estimators detect classification failures under real domain shift?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Multi-Cohort Locked Evaluation Design</a:t>
            </a:r>
          </a:p>
          <a:p>
            <a:pPr>
              <a:spcBef>
                <a:spcPts val="1200"/>
              </a:spcBef>
              <a:defRPr sz="1800"/>
            </a:pPr>
            <a:r>
              <a:t>OASIS-1 Source Cohort (N=198): 138 Train, 30 Validation, 30 Locked Test. 1.5T Siemens Vision. CDR &gt; 0. Verified 0% cross-split leakage.</a:t>
            </a:r>
          </a:p>
          <a:p>
            <a:pPr>
              <a:spcBef>
                <a:spcPts val="1200"/>
              </a:spcBef>
              <a:defRPr sz="1800"/>
            </a:pPr>
            <a:r>
              <a:t>ADNI Zero-Shot External Transfer (N=500): 303 CN, 197 AD. 370 Siemens, 130 Philips, 0 GE. Evaluated blindly with frozen source models.</a:t>
            </a:r>
          </a:p>
          <a:p>
            <a:pPr>
              <a:spcBef>
                <a:spcPts val="1200"/>
              </a:spcBef>
              <a:defRPr sz="1800"/>
            </a:pPr>
            <a:r>
              <a:t>OASIS-2 Longitudinal Exploratory (N=150): 85 Non-Demented, 65 Demented. Reported strictly as exploratory due to potential cross-study overlap.</a:t>
            </a:r>
          </a:p>
          <a:p>
            <a:pPr>
              <a:spcBef>
                <a:spcPts val="1200"/>
              </a:spcBef>
              <a:defRPr sz="1800"/>
            </a:pPr>
            <a:r>
              <a:t>Evaluation Governance: Optimal threshold tau* derived strictly on OASIS-1 validation (Youden's J). Zero test label contamination.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Key Findings: Foundation Models vs Supervised CNNs</a:t>
            </a:r>
          </a:p>
          <a:p>
            <a:pPr>
              <a:spcBef>
                <a:spcPts val="1000"/>
              </a:spcBef>
              <a:defRPr sz="1700"/>
            </a:pPr>
            <a:r>
              <a:t>MONAI Swin UNETR SSL Achieved Top Generalization: ADNI AUC = 0.5756 [0.5245, 0.6253]. Statistically superior to 3D ResNet-18 (0.4601, p = 0.036).</a:t>
            </a:r>
          </a:p>
          <a:p>
            <a:pPr>
              <a:spcBef>
                <a:spcPts val="1000"/>
              </a:spcBef>
              <a:defRPr sz="1700"/>
            </a:pPr>
            <a:r>
              <a:t>3D ResNet-18 Collapsed Under Domain Shift: OASIS-1 Test AUC = 0.6477 -&gt; ADNI AUC = 0.4601 (Generalization Gap ΔAUC = +0.1876).</a:t>
            </a:r>
          </a:p>
          <a:p>
            <a:pPr>
              <a:spcBef>
                <a:spcPts val="1000"/>
              </a:spcBef>
              <a:defRPr sz="1700"/>
            </a:pPr>
            <a:r>
              <a:t>Fine-Tuning Degraded External Transfer Across All Models: Partial fine-tuning on N=138 scans reduced ADNI AUC by -0.01 to -0.07.</a:t>
            </a:r>
          </a:p>
          <a:p>
            <a:pPr>
              <a:spcBef>
                <a:spcPts val="1000"/>
              </a:spcBef>
              <a:defRPr sz="1700"/>
            </a:pPr>
            <a:r>
              <a:t>BrainIAC vs Random Control: BrainIAC (AUC = 0.4574) did not outperform random ViT control (AUC = 0.5044, p = 0.138).</a:t>
            </a:r>
          </a:p>
          <a:p>
            <a:pPr>
              <a:spcBef>
                <a:spcPts val="1000"/>
              </a:spcBef>
              <a:defRPr sz="1700"/>
            </a:pPr>
            <a:r>
              <a:t>TrustGate Failure Detection Collapsed: Confidence margin error AUROC = 0.4722 on ADNI, confirming deep network overconfidence under domain shift.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Conclusions &amp; Recommendations</a:t>
            </a:r>
          </a:p>
          <a:p>
            <a:pPr>
              <a:spcBef>
                <a:spcPts val="1200"/>
              </a:spcBef>
              <a:defRPr sz="1800"/>
            </a:pPr>
            <a:r>
              <a:t>1. Hierarchical volumetric pretraining (Swin UNETR) provides measurable resilience against cross-cohort scanner shift.</a:t>
            </a:r>
          </a:p>
          <a:p>
            <a:pPr>
              <a:spcBef>
                <a:spcPts val="1200"/>
              </a:spcBef>
              <a:defRPr sz="1800"/>
            </a:pPr>
            <a:r>
              <a:t>2. Linear probing on frozen representations is strictly superior to partial fine-tuning in small clinical cohorts.</a:t>
            </a:r>
          </a:p>
          <a:p>
            <a:pPr>
              <a:spcBef>
                <a:spcPts val="1200"/>
              </a:spcBef>
              <a:defRPr sz="1800"/>
            </a:pPr>
            <a:r>
              <a:t>3. Post-hoc failure detection under domain shift cannot rely on source-calibrated output confidence; ensemble disagreement provides more reliable gating.</a:t>
            </a:r>
          </a:p>
          <a:p>
            <a:pPr>
              <a:spcBef>
                <a:spcPts val="1200"/>
              </a:spcBef>
              <a:defRPr sz="1800"/>
            </a:pPr>
            <a:r>
              <a:t>4. Full reproducible package (15 audited checkpoints, predictions, figures, paper) ready for professor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